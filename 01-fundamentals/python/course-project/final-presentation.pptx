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Fira Code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2lj6XCLHOfT7p/vpYr4AX/Y+u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FiraCode-bold.fntdata"/><Relationship Id="rId16" Type="http://schemas.openxmlformats.org/officeDocument/2006/relationships/font" Target="fonts/FiraCod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6911035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2d69110351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69110351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2d69110351a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69110351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2d69110351a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69110351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d69110351a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9110351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2d69110351a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69110351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2d69110351a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69110351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2d69110351a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92b5bab9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d692b5bab9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28700" y="7922726"/>
            <a:ext cx="14629565" cy="1044493"/>
            <a:chOff x="0" y="-38100"/>
            <a:chExt cx="1600749" cy="275091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600749" cy="236991"/>
            </a:xfrm>
            <a:custGeom>
              <a:rect b="b" l="l" r="r" t="t"/>
              <a:pathLst>
                <a:path extrusionOk="0" h="236991" w="1600749">
                  <a:moveTo>
                    <a:pt x="30571" y="0"/>
                  </a:moveTo>
                  <a:lnTo>
                    <a:pt x="1570178" y="0"/>
                  </a:lnTo>
                  <a:cubicBezTo>
                    <a:pt x="1578286" y="0"/>
                    <a:pt x="1586062" y="3221"/>
                    <a:pt x="1591795" y="8954"/>
                  </a:cubicBezTo>
                  <a:cubicBezTo>
                    <a:pt x="1597528" y="14687"/>
                    <a:pt x="1600749" y="22463"/>
                    <a:pt x="1600749" y="30571"/>
                  </a:cubicBezTo>
                  <a:lnTo>
                    <a:pt x="1600749" y="206420"/>
                  </a:lnTo>
                  <a:cubicBezTo>
                    <a:pt x="1600749" y="223304"/>
                    <a:pt x="1587062" y="236991"/>
                    <a:pt x="1570178" y="236991"/>
                  </a:cubicBezTo>
                  <a:lnTo>
                    <a:pt x="30571" y="236991"/>
                  </a:lnTo>
                  <a:cubicBezTo>
                    <a:pt x="22463" y="236991"/>
                    <a:pt x="14687" y="233770"/>
                    <a:pt x="8954" y="228037"/>
                  </a:cubicBezTo>
                  <a:cubicBezTo>
                    <a:pt x="3221" y="222304"/>
                    <a:pt x="0" y="214528"/>
                    <a:pt x="0" y="206420"/>
                  </a:cubicBezTo>
                  <a:lnTo>
                    <a:pt x="0" y="30571"/>
                  </a:lnTo>
                  <a:cubicBezTo>
                    <a:pt x="0" y="22463"/>
                    <a:pt x="3221" y="14687"/>
                    <a:pt x="8954" y="8954"/>
                  </a:cubicBezTo>
                  <a:cubicBezTo>
                    <a:pt x="14687" y="3221"/>
                    <a:pt x="22463" y="0"/>
                    <a:pt x="30571" y="0"/>
                  </a:cubicBezTo>
                  <a:close/>
                </a:path>
              </a:pathLst>
            </a:custGeom>
            <a:solidFill>
              <a:srgbClr val="FFC5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1600749" cy="275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7" name="Google Shape;87;p1"/>
          <p:cNvCxnSpPr/>
          <p:nvPr/>
        </p:nvCxnSpPr>
        <p:spPr>
          <a:xfrm>
            <a:off x="13247218" y="8498257"/>
            <a:ext cx="1892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88" name="Google Shape;88;p1"/>
          <p:cNvGrpSpPr/>
          <p:nvPr/>
        </p:nvGrpSpPr>
        <p:grpSpPr>
          <a:xfrm>
            <a:off x="635426" y="461980"/>
            <a:ext cx="17262368" cy="988779"/>
            <a:chOff x="0" y="-192881"/>
            <a:chExt cx="23016491" cy="1318371"/>
          </a:xfrm>
        </p:grpSpPr>
        <p:grpSp>
          <p:nvGrpSpPr>
            <p:cNvPr id="89" name="Google Shape;89;p1"/>
            <p:cNvGrpSpPr/>
            <p:nvPr/>
          </p:nvGrpSpPr>
          <p:grpSpPr>
            <a:xfrm>
              <a:off x="0" y="-192881"/>
              <a:ext cx="23016491" cy="1318371"/>
              <a:chOff x="0" y="-38100"/>
              <a:chExt cx="4546467" cy="260419"/>
            </a:xfrm>
          </p:grpSpPr>
          <p:sp>
            <p:nvSpPr>
              <p:cNvPr id="90" name="Google Shape;90;p1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"/>
              <p:cNvSpPr txBox="1"/>
              <p:nvPr/>
            </p:nvSpPr>
            <p:spPr>
              <a:xfrm>
                <a:off x="0" y="-38100"/>
                <a:ext cx="4546467" cy="2604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2" name="Google Shape;92;p1"/>
            <p:cNvCxnSpPr/>
            <p:nvPr/>
          </p:nvCxnSpPr>
          <p:spPr>
            <a:xfrm>
              <a:off x="22130073" y="368470"/>
              <a:ext cx="350965" cy="383162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" name="Google Shape;93;p1"/>
            <p:cNvCxnSpPr/>
            <p:nvPr/>
          </p:nvCxnSpPr>
          <p:spPr>
            <a:xfrm flipH="1">
              <a:off x="22130073" y="377728"/>
              <a:ext cx="339363" cy="373904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1"/>
            <p:cNvCxnSpPr/>
            <p:nvPr/>
          </p:nvCxnSpPr>
          <p:spPr>
            <a:xfrm>
              <a:off x="20624713" y="560051"/>
              <a:ext cx="501367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5" name="Google Shape;95;p1"/>
            <p:cNvGrpSpPr/>
            <p:nvPr/>
          </p:nvGrpSpPr>
          <p:grpSpPr>
            <a:xfrm>
              <a:off x="21430813" y="169077"/>
              <a:ext cx="385123" cy="582554"/>
              <a:chOff x="0" y="-38100"/>
              <a:chExt cx="76074" cy="115073"/>
            </a:xfrm>
          </p:grpSpPr>
          <p:sp>
            <p:nvSpPr>
              <p:cNvPr id="96" name="Google Shape;96;p1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"/>
              <p:cNvSpPr txBox="1"/>
              <p:nvPr/>
            </p:nvSpPr>
            <p:spPr>
              <a:xfrm>
                <a:off x="0" y="-38100"/>
                <a:ext cx="76074" cy="115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" name="Google Shape;98;p1"/>
            <p:cNvSpPr txBox="1"/>
            <p:nvPr/>
          </p:nvSpPr>
          <p:spPr>
            <a:xfrm>
              <a:off x="524365" y="222812"/>
              <a:ext cx="124983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Automation Lab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Fall 2024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99" name="Google Shape;99;p1"/>
          <p:cNvSpPr txBox="1"/>
          <p:nvPr/>
        </p:nvSpPr>
        <p:spPr>
          <a:xfrm>
            <a:off x="1410525" y="2276675"/>
            <a:ext cx="57801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28">
                <a:solidFill>
                  <a:srgbClr val="FF5757"/>
                </a:solidFill>
                <a:latin typeface="Fira Code"/>
                <a:ea typeface="Fira Code"/>
                <a:cs typeface="Fira Code"/>
                <a:sym typeface="Fira Code"/>
              </a:rPr>
              <a:t>Heart Failure Data Set</a:t>
            </a:r>
            <a:r>
              <a:rPr b="0" i="0" lang="en-US" sz="7328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219551" y="8179325"/>
            <a:ext cx="11271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82">
                <a:latin typeface="Fira Code"/>
                <a:ea typeface="Fira Code"/>
                <a:cs typeface="Fira Code"/>
                <a:sym typeface="Fira Code"/>
              </a:rPr>
              <a:t>Olivia R., Somto O., Zach G.</a:t>
            </a:r>
            <a:endParaRPr/>
          </a:p>
        </p:txBody>
      </p:sp>
      <p:pic>
        <p:nvPicPr>
          <p:cNvPr id="101" name="Google Shape;10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025" y="1603158"/>
            <a:ext cx="7706138" cy="616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"/>
          <p:cNvGrpSpPr/>
          <p:nvPr/>
        </p:nvGrpSpPr>
        <p:grpSpPr>
          <a:xfrm>
            <a:off x="635426" y="461980"/>
            <a:ext cx="17262368" cy="988778"/>
            <a:chOff x="0" y="-192881"/>
            <a:chExt cx="23016491" cy="1318371"/>
          </a:xfrm>
        </p:grpSpPr>
        <p:grpSp>
          <p:nvGrpSpPr>
            <p:cNvPr id="107" name="Google Shape;107;p2"/>
            <p:cNvGrpSpPr/>
            <p:nvPr/>
          </p:nvGrpSpPr>
          <p:grpSpPr>
            <a:xfrm>
              <a:off x="0" y="-192881"/>
              <a:ext cx="23016491" cy="1318371"/>
              <a:chOff x="0" y="-38100"/>
              <a:chExt cx="4546467" cy="260419"/>
            </a:xfrm>
          </p:grpSpPr>
          <p:sp>
            <p:nvSpPr>
              <p:cNvPr id="108" name="Google Shape;108;p2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 txBox="1"/>
              <p:nvPr/>
            </p:nvSpPr>
            <p:spPr>
              <a:xfrm>
                <a:off x="0" y="-38100"/>
                <a:ext cx="4546467" cy="2604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0" name="Google Shape;110;p2"/>
            <p:cNvCxnSpPr/>
            <p:nvPr/>
          </p:nvCxnSpPr>
          <p:spPr>
            <a:xfrm>
              <a:off x="22130073" y="368470"/>
              <a:ext cx="350965" cy="383162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2"/>
            <p:cNvCxnSpPr/>
            <p:nvPr/>
          </p:nvCxnSpPr>
          <p:spPr>
            <a:xfrm flipH="1">
              <a:off x="22130073" y="377728"/>
              <a:ext cx="339363" cy="373904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2"/>
            <p:cNvCxnSpPr/>
            <p:nvPr/>
          </p:nvCxnSpPr>
          <p:spPr>
            <a:xfrm>
              <a:off x="20624713" y="560051"/>
              <a:ext cx="501367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3" name="Google Shape;113;p2"/>
            <p:cNvGrpSpPr/>
            <p:nvPr/>
          </p:nvGrpSpPr>
          <p:grpSpPr>
            <a:xfrm>
              <a:off x="21430813" y="169077"/>
              <a:ext cx="385123" cy="582554"/>
              <a:chOff x="0" y="-38100"/>
              <a:chExt cx="76074" cy="115073"/>
            </a:xfrm>
          </p:grpSpPr>
          <p:sp>
            <p:nvSpPr>
              <p:cNvPr id="114" name="Google Shape;114;p2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2"/>
              <p:cNvSpPr txBox="1"/>
              <p:nvPr/>
            </p:nvSpPr>
            <p:spPr>
              <a:xfrm>
                <a:off x="0" y="-38100"/>
                <a:ext cx="76074" cy="115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" name="Google Shape;116;p2"/>
            <p:cNvSpPr txBox="1"/>
            <p:nvPr/>
          </p:nvSpPr>
          <p:spPr>
            <a:xfrm>
              <a:off x="524365" y="222812"/>
              <a:ext cx="142056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Step 1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Problem Definition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117" name="Google Shape;117;p2"/>
          <p:cNvSpPr txBox="1"/>
          <p:nvPr/>
        </p:nvSpPr>
        <p:spPr>
          <a:xfrm>
            <a:off x="998250" y="2096725"/>
            <a:ext cx="16224300" cy="6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Objective:</a:t>
            </a:r>
            <a:endParaRPr sz="3699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what is causing a Death Event. By understanding what causes a Death Event it may help put a focus and emphasis on that specific issue. Understanding what causes Death Events can ultimately help reduce the number of Death Events.</a:t>
            </a:r>
            <a:endParaRPr sz="3699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99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Task:</a:t>
            </a:r>
            <a:endParaRPr sz="3699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 will perform a classification analysis to determine how the independent variables impact the dependent variable Death Event. We are doing this to determine what events determine the change of a death event.</a:t>
            </a:r>
            <a:endParaRPr sz="3699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g2d69110351a_0_4"/>
          <p:cNvGrpSpPr/>
          <p:nvPr/>
        </p:nvGrpSpPr>
        <p:grpSpPr>
          <a:xfrm>
            <a:off x="635426" y="461980"/>
            <a:ext cx="17262492" cy="988778"/>
            <a:chOff x="0" y="-192881"/>
            <a:chExt cx="23016656" cy="1318371"/>
          </a:xfrm>
        </p:grpSpPr>
        <p:grpSp>
          <p:nvGrpSpPr>
            <p:cNvPr id="123" name="Google Shape;123;g2d69110351a_0_4"/>
            <p:cNvGrpSpPr/>
            <p:nvPr/>
          </p:nvGrpSpPr>
          <p:grpSpPr>
            <a:xfrm>
              <a:off x="0" y="-192881"/>
              <a:ext cx="23016656" cy="1318371"/>
              <a:chOff x="0" y="-38100"/>
              <a:chExt cx="4546500" cy="260419"/>
            </a:xfrm>
          </p:grpSpPr>
          <p:sp>
            <p:nvSpPr>
              <p:cNvPr id="124" name="Google Shape;124;g2d69110351a_0_4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g2d69110351a_0_4"/>
              <p:cNvSpPr txBox="1"/>
              <p:nvPr/>
            </p:nvSpPr>
            <p:spPr>
              <a:xfrm>
                <a:off x="0" y="-38100"/>
                <a:ext cx="4546500" cy="2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6" name="Google Shape;126;g2d69110351a_0_4"/>
            <p:cNvCxnSpPr/>
            <p:nvPr/>
          </p:nvCxnSpPr>
          <p:spPr>
            <a:xfrm>
              <a:off x="22130073" y="368470"/>
              <a:ext cx="351000" cy="3831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g2d69110351a_0_4"/>
            <p:cNvCxnSpPr/>
            <p:nvPr/>
          </p:nvCxnSpPr>
          <p:spPr>
            <a:xfrm flipH="1">
              <a:off x="22130136" y="377728"/>
              <a:ext cx="339300" cy="3738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g2d69110351a_0_4"/>
            <p:cNvCxnSpPr/>
            <p:nvPr/>
          </p:nvCxnSpPr>
          <p:spPr>
            <a:xfrm>
              <a:off x="20624713" y="560051"/>
              <a:ext cx="501300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9" name="Google Shape;129;g2d69110351a_0_4"/>
            <p:cNvGrpSpPr/>
            <p:nvPr/>
          </p:nvGrpSpPr>
          <p:grpSpPr>
            <a:xfrm>
              <a:off x="21430813" y="169076"/>
              <a:ext cx="385763" cy="583200"/>
              <a:chOff x="0" y="-38100"/>
              <a:chExt cx="76200" cy="115200"/>
            </a:xfrm>
          </p:grpSpPr>
          <p:sp>
            <p:nvSpPr>
              <p:cNvPr id="130" name="Google Shape;130;g2d69110351a_0_4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g2d69110351a_0_4"/>
              <p:cNvSpPr txBox="1"/>
              <p:nvPr/>
            </p:nvSpPr>
            <p:spPr>
              <a:xfrm>
                <a:off x="0" y="-38100"/>
                <a:ext cx="76200" cy="1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g2d69110351a_0_4"/>
            <p:cNvSpPr txBox="1"/>
            <p:nvPr/>
          </p:nvSpPr>
          <p:spPr>
            <a:xfrm>
              <a:off x="524365" y="222812"/>
              <a:ext cx="150441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Step 2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Exploratory Data Analysis (EDA)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133" name="Google Shape;133;g2d69110351a_0_4"/>
          <p:cNvSpPr txBox="1"/>
          <p:nvPr/>
        </p:nvSpPr>
        <p:spPr>
          <a:xfrm>
            <a:off x="724800" y="1450750"/>
            <a:ext cx="168384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Zero missing values detected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556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Creatinine Phosphokinase and Serum Creatinine have the most outliers and have a right skewed graph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lang="en-US" sz="2000">
                <a:solidFill>
                  <a:srgbClr val="1F1F1F"/>
                </a:solidFill>
                <a:latin typeface="Fira Code"/>
                <a:ea typeface="Fira Code"/>
                <a:cs typeface="Fira Code"/>
                <a:sym typeface="Fira Code"/>
              </a:rPr>
              <a:t>Null Hypothesis (H₀): There is no significant relationship between the categories (features such as age, anaemia, creatinine phosphokinase, diabetes, etc.) and the likelihood of a Death Event.</a:t>
            </a:r>
            <a:endParaRPr sz="2000">
              <a:solidFill>
                <a:srgbClr val="1F1F1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lang="en-US" sz="2000">
                <a:solidFill>
                  <a:srgbClr val="1F1F1F"/>
                </a:solidFill>
                <a:latin typeface="Fira Code"/>
                <a:ea typeface="Fira Code"/>
                <a:cs typeface="Fira Code"/>
                <a:sym typeface="Fira Code"/>
              </a:rPr>
              <a:t>Alternative Hypothesis (H₁): At least one of the categories (features) significantly impacts the likelihood of a Death Event.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134" name="Google Shape;134;g2d69110351a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5800" y="3835275"/>
            <a:ext cx="9152124" cy="62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d69110351a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50" y="3911475"/>
            <a:ext cx="8043950" cy="59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2d69110351a_0_99"/>
          <p:cNvGrpSpPr/>
          <p:nvPr/>
        </p:nvGrpSpPr>
        <p:grpSpPr>
          <a:xfrm>
            <a:off x="635426" y="461980"/>
            <a:ext cx="17262492" cy="988778"/>
            <a:chOff x="0" y="-192881"/>
            <a:chExt cx="23016656" cy="1318371"/>
          </a:xfrm>
        </p:grpSpPr>
        <p:grpSp>
          <p:nvGrpSpPr>
            <p:cNvPr id="141" name="Google Shape;141;g2d69110351a_0_99"/>
            <p:cNvGrpSpPr/>
            <p:nvPr/>
          </p:nvGrpSpPr>
          <p:grpSpPr>
            <a:xfrm>
              <a:off x="0" y="-192881"/>
              <a:ext cx="23016656" cy="1318371"/>
              <a:chOff x="0" y="-38100"/>
              <a:chExt cx="4546500" cy="260419"/>
            </a:xfrm>
          </p:grpSpPr>
          <p:sp>
            <p:nvSpPr>
              <p:cNvPr id="142" name="Google Shape;142;g2d69110351a_0_99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g2d69110351a_0_99"/>
              <p:cNvSpPr txBox="1"/>
              <p:nvPr/>
            </p:nvSpPr>
            <p:spPr>
              <a:xfrm>
                <a:off x="0" y="-38100"/>
                <a:ext cx="4546500" cy="2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44" name="Google Shape;144;g2d69110351a_0_99"/>
            <p:cNvCxnSpPr/>
            <p:nvPr/>
          </p:nvCxnSpPr>
          <p:spPr>
            <a:xfrm>
              <a:off x="22130073" y="368470"/>
              <a:ext cx="351000" cy="3831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g2d69110351a_0_99"/>
            <p:cNvCxnSpPr/>
            <p:nvPr/>
          </p:nvCxnSpPr>
          <p:spPr>
            <a:xfrm flipH="1">
              <a:off x="22130136" y="377728"/>
              <a:ext cx="339300" cy="3738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g2d69110351a_0_99"/>
            <p:cNvCxnSpPr/>
            <p:nvPr/>
          </p:nvCxnSpPr>
          <p:spPr>
            <a:xfrm>
              <a:off x="20624713" y="560051"/>
              <a:ext cx="501300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7" name="Google Shape;147;g2d69110351a_0_99"/>
            <p:cNvGrpSpPr/>
            <p:nvPr/>
          </p:nvGrpSpPr>
          <p:grpSpPr>
            <a:xfrm>
              <a:off x="21430813" y="169076"/>
              <a:ext cx="385763" cy="583200"/>
              <a:chOff x="0" y="-38100"/>
              <a:chExt cx="76200" cy="115200"/>
            </a:xfrm>
          </p:grpSpPr>
          <p:sp>
            <p:nvSpPr>
              <p:cNvPr id="148" name="Google Shape;148;g2d69110351a_0_99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g2d69110351a_0_99"/>
              <p:cNvSpPr txBox="1"/>
              <p:nvPr/>
            </p:nvSpPr>
            <p:spPr>
              <a:xfrm>
                <a:off x="0" y="-38100"/>
                <a:ext cx="76200" cy="1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g2d69110351a_0_99"/>
            <p:cNvSpPr txBox="1"/>
            <p:nvPr/>
          </p:nvSpPr>
          <p:spPr>
            <a:xfrm>
              <a:off x="524365" y="222812"/>
              <a:ext cx="150441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Step 2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Exploratory Data Analysis (EDA)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151" name="Google Shape;151;g2d69110351a_0_99"/>
          <p:cNvSpPr txBox="1"/>
          <p:nvPr/>
        </p:nvSpPr>
        <p:spPr>
          <a:xfrm>
            <a:off x="9234000" y="1458000"/>
            <a:ext cx="8868900" cy="10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time ≤ 67.5, the samples are sent to the left branch.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time &gt; 67.5, the samples are sent to the right branch.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Left branch 1: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ejection fraction ≤ 72.5, the samples are further split into the next level.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ejection fraction &gt; 72.5, only one patient is classified, with no death event (class 0).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Left branch 2: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creatinine phosphokinase ≤ 109.5, the samples are split further.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creatinine phosphokinase &gt; 109.5, there is a strong majority of no death events (class 0)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Right branch 1: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serum creatinine ≤ 1.815, the majority of patients experience no death events (class 0).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serum creatinine &gt; 1.815, there’s a higher proportion of death events, leading to further splits.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Right branch 2: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platelets ≤ 90,000, the data splits again based on serum sodium.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platelets &gt; 90,000, the model predicts no death events (class 0) with very high confidence (low Gini index of 0.093).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Right branch 3: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serum sodium ≤ 132.5, the risk of a death event (class 1) is high.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If serum sodium &gt; 132.5, the risk of a death event is lower.</a:t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152" name="Google Shape;152;g2d69110351a_0_99"/>
          <p:cNvPicPr preferRelativeResize="0"/>
          <p:nvPr/>
        </p:nvPicPr>
        <p:blipFill rotWithShape="1">
          <a:blip r:embed="rId3">
            <a:alphaModFix/>
          </a:blip>
          <a:srcRect b="4447" l="0" r="0" t="4237"/>
          <a:stretch/>
        </p:blipFill>
        <p:spPr>
          <a:xfrm>
            <a:off x="388350" y="1450750"/>
            <a:ext cx="8652398" cy="833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g2d69110351a_0_19"/>
          <p:cNvGrpSpPr/>
          <p:nvPr/>
        </p:nvGrpSpPr>
        <p:grpSpPr>
          <a:xfrm>
            <a:off x="635426" y="461980"/>
            <a:ext cx="17262492" cy="988778"/>
            <a:chOff x="0" y="-192881"/>
            <a:chExt cx="23016656" cy="1318371"/>
          </a:xfrm>
        </p:grpSpPr>
        <p:grpSp>
          <p:nvGrpSpPr>
            <p:cNvPr id="158" name="Google Shape;158;g2d69110351a_0_19"/>
            <p:cNvGrpSpPr/>
            <p:nvPr/>
          </p:nvGrpSpPr>
          <p:grpSpPr>
            <a:xfrm>
              <a:off x="0" y="-192881"/>
              <a:ext cx="23016656" cy="1318371"/>
              <a:chOff x="0" y="-38100"/>
              <a:chExt cx="4546500" cy="260419"/>
            </a:xfrm>
          </p:grpSpPr>
          <p:sp>
            <p:nvSpPr>
              <p:cNvPr id="159" name="Google Shape;159;g2d69110351a_0_19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g2d69110351a_0_19"/>
              <p:cNvSpPr txBox="1"/>
              <p:nvPr/>
            </p:nvSpPr>
            <p:spPr>
              <a:xfrm>
                <a:off x="0" y="-38100"/>
                <a:ext cx="4546500" cy="2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61" name="Google Shape;161;g2d69110351a_0_19"/>
            <p:cNvCxnSpPr/>
            <p:nvPr/>
          </p:nvCxnSpPr>
          <p:spPr>
            <a:xfrm>
              <a:off x="22130073" y="368470"/>
              <a:ext cx="351000" cy="3831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g2d69110351a_0_19"/>
            <p:cNvCxnSpPr/>
            <p:nvPr/>
          </p:nvCxnSpPr>
          <p:spPr>
            <a:xfrm flipH="1">
              <a:off x="22130136" y="377728"/>
              <a:ext cx="339300" cy="3738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g2d69110351a_0_19"/>
            <p:cNvCxnSpPr/>
            <p:nvPr/>
          </p:nvCxnSpPr>
          <p:spPr>
            <a:xfrm>
              <a:off x="20624713" y="560051"/>
              <a:ext cx="501300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4" name="Google Shape;164;g2d69110351a_0_19"/>
            <p:cNvGrpSpPr/>
            <p:nvPr/>
          </p:nvGrpSpPr>
          <p:grpSpPr>
            <a:xfrm>
              <a:off x="21430813" y="169076"/>
              <a:ext cx="385763" cy="583200"/>
              <a:chOff x="0" y="-38100"/>
              <a:chExt cx="76200" cy="115200"/>
            </a:xfrm>
          </p:grpSpPr>
          <p:sp>
            <p:nvSpPr>
              <p:cNvPr id="165" name="Google Shape;165;g2d69110351a_0_19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2d69110351a_0_19"/>
              <p:cNvSpPr txBox="1"/>
              <p:nvPr/>
            </p:nvSpPr>
            <p:spPr>
              <a:xfrm>
                <a:off x="0" y="-38100"/>
                <a:ext cx="76200" cy="1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7" name="Google Shape;167;g2d69110351a_0_19"/>
            <p:cNvSpPr txBox="1"/>
            <p:nvPr/>
          </p:nvSpPr>
          <p:spPr>
            <a:xfrm>
              <a:off x="524365" y="222812"/>
              <a:ext cx="142056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Step 3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Data Preprocessing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168" name="Google Shape;168;g2d69110351a_0_19"/>
          <p:cNvSpPr txBox="1"/>
          <p:nvPr/>
        </p:nvSpPr>
        <p:spPr>
          <a:xfrm>
            <a:off x="813050" y="2074571"/>
            <a:ext cx="5922600" cy="6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65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Dropped any duplicates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7465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Detected and handled outliers by removing them </a:t>
            </a: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front</a:t>
            </a: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the dataset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74650" lvl="1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29 from creatinine_phosphokinase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74650" lvl="1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2 from ejection_fraction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74650" lvl="1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18 from platelets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74650" lvl="1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23 from serum_creatinine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74650" lvl="1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3 from serum_sodium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746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Check for Erroneous Data (negative values where not applicable)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746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Code"/>
              <a:buChar char="-"/>
            </a:pPr>
            <a:r>
              <a:rPr lang="en-US" sz="23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Create a feature for age group</a:t>
            </a:r>
            <a:endParaRPr sz="23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169" name="Google Shape;169;g2d69110351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050" y="1954523"/>
            <a:ext cx="10066076" cy="6624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2d69110351a_0_79"/>
          <p:cNvGrpSpPr/>
          <p:nvPr/>
        </p:nvGrpSpPr>
        <p:grpSpPr>
          <a:xfrm>
            <a:off x="635426" y="461980"/>
            <a:ext cx="17262492" cy="988778"/>
            <a:chOff x="0" y="-192881"/>
            <a:chExt cx="23016656" cy="1318371"/>
          </a:xfrm>
        </p:grpSpPr>
        <p:grpSp>
          <p:nvGrpSpPr>
            <p:cNvPr id="175" name="Google Shape;175;g2d69110351a_0_79"/>
            <p:cNvGrpSpPr/>
            <p:nvPr/>
          </p:nvGrpSpPr>
          <p:grpSpPr>
            <a:xfrm>
              <a:off x="0" y="-192881"/>
              <a:ext cx="23016656" cy="1318371"/>
              <a:chOff x="0" y="-38100"/>
              <a:chExt cx="4546500" cy="260419"/>
            </a:xfrm>
          </p:grpSpPr>
          <p:sp>
            <p:nvSpPr>
              <p:cNvPr id="176" name="Google Shape;176;g2d69110351a_0_79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2d69110351a_0_79"/>
              <p:cNvSpPr txBox="1"/>
              <p:nvPr/>
            </p:nvSpPr>
            <p:spPr>
              <a:xfrm>
                <a:off x="0" y="-38100"/>
                <a:ext cx="4546500" cy="2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8" name="Google Shape;178;g2d69110351a_0_79"/>
            <p:cNvCxnSpPr/>
            <p:nvPr/>
          </p:nvCxnSpPr>
          <p:spPr>
            <a:xfrm>
              <a:off x="22130073" y="368470"/>
              <a:ext cx="351000" cy="3831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g2d69110351a_0_79"/>
            <p:cNvCxnSpPr/>
            <p:nvPr/>
          </p:nvCxnSpPr>
          <p:spPr>
            <a:xfrm flipH="1">
              <a:off x="22130136" y="377728"/>
              <a:ext cx="339300" cy="3738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g2d69110351a_0_79"/>
            <p:cNvCxnSpPr/>
            <p:nvPr/>
          </p:nvCxnSpPr>
          <p:spPr>
            <a:xfrm>
              <a:off x="20624713" y="560051"/>
              <a:ext cx="501300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81" name="Google Shape;181;g2d69110351a_0_79"/>
            <p:cNvGrpSpPr/>
            <p:nvPr/>
          </p:nvGrpSpPr>
          <p:grpSpPr>
            <a:xfrm>
              <a:off x="21430813" y="169076"/>
              <a:ext cx="385763" cy="583200"/>
              <a:chOff x="0" y="-38100"/>
              <a:chExt cx="76200" cy="115200"/>
            </a:xfrm>
          </p:grpSpPr>
          <p:sp>
            <p:nvSpPr>
              <p:cNvPr id="182" name="Google Shape;182;g2d69110351a_0_79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g2d69110351a_0_79"/>
              <p:cNvSpPr txBox="1"/>
              <p:nvPr/>
            </p:nvSpPr>
            <p:spPr>
              <a:xfrm>
                <a:off x="0" y="-38100"/>
                <a:ext cx="76200" cy="1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" name="Google Shape;184;g2d69110351a_0_79"/>
            <p:cNvSpPr txBox="1"/>
            <p:nvPr/>
          </p:nvSpPr>
          <p:spPr>
            <a:xfrm>
              <a:off x="524365" y="222812"/>
              <a:ext cx="142056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Step 4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Feature Selection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185" name="Google Shape;185;g2d69110351a_0_79"/>
          <p:cNvSpPr txBox="1"/>
          <p:nvPr/>
        </p:nvSpPr>
        <p:spPr>
          <a:xfrm>
            <a:off x="1840500" y="5842325"/>
            <a:ext cx="146070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Split Data into Features and Target</a:t>
            </a:r>
            <a:endParaRPr b="1" sz="2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Features (</a:t>
            </a:r>
            <a:r>
              <a:rPr b="1"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): All columns except DEATH_EVENT.</a:t>
            </a:r>
            <a:endParaRPr sz="2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Target (</a:t>
            </a:r>
            <a:r>
              <a:rPr b="1"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y</a:t>
            </a:r>
            <a:r>
              <a:rPr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): The DEATH_EVENT column.</a:t>
            </a:r>
            <a:endParaRPr sz="2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Dropped the Target Variable (DEATH_EVENT)</a:t>
            </a:r>
            <a:r>
              <a:rPr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from Features to avoid data leakage.</a:t>
            </a:r>
            <a:endParaRPr sz="2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Used the </a:t>
            </a:r>
            <a:r>
              <a:rPr b="1"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train_test_split Function</a:t>
            </a:r>
            <a:r>
              <a:rPr lang="en-US" sz="25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from sklearn.model_selection to separate data into training and testing sets.</a:t>
            </a:r>
            <a:endParaRPr sz="25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186" name="Google Shape;186;g2d69110351a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625" y="1962521"/>
            <a:ext cx="11500751" cy="374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g2d69110351a_0_64"/>
          <p:cNvGrpSpPr/>
          <p:nvPr/>
        </p:nvGrpSpPr>
        <p:grpSpPr>
          <a:xfrm>
            <a:off x="635426" y="688155"/>
            <a:ext cx="17262492" cy="988706"/>
            <a:chOff x="0" y="-94515"/>
            <a:chExt cx="23016656" cy="1318275"/>
          </a:xfrm>
        </p:grpSpPr>
        <p:grpSp>
          <p:nvGrpSpPr>
            <p:cNvPr id="192" name="Google Shape;192;g2d69110351a_0_64"/>
            <p:cNvGrpSpPr/>
            <p:nvPr/>
          </p:nvGrpSpPr>
          <p:grpSpPr>
            <a:xfrm>
              <a:off x="0" y="-94515"/>
              <a:ext cx="23016656" cy="1318275"/>
              <a:chOff x="0" y="-18670"/>
              <a:chExt cx="4546500" cy="260400"/>
            </a:xfrm>
          </p:grpSpPr>
          <p:sp>
            <p:nvSpPr>
              <p:cNvPr id="193" name="Google Shape;193;g2d69110351a_0_64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g2d69110351a_0_64"/>
              <p:cNvSpPr txBox="1"/>
              <p:nvPr/>
            </p:nvSpPr>
            <p:spPr>
              <a:xfrm>
                <a:off x="0" y="-18670"/>
                <a:ext cx="4546500" cy="2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95" name="Google Shape;195;g2d69110351a_0_64"/>
            <p:cNvCxnSpPr/>
            <p:nvPr/>
          </p:nvCxnSpPr>
          <p:spPr>
            <a:xfrm>
              <a:off x="22130073" y="368470"/>
              <a:ext cx="351000" cy="3831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g2d69110351a_0_64"/>
            <p:cNvCxnSpPr/>
            <p:nvPr/>
          </p:nvCxnSpPr>
          <p:spPr>
            <a:xfrm flipH="1">
              <a:off x="22130136" y="377728"/>
              <a:ext cx="339300" cy="3738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g2d69110351a_0_64"/>
            <p:cNvCxnSpPr/>
            <p:nvPr/>
          </p:nvCxnSpPr>
          <p:spPr>
            <a:xfrm>
              <a:off x="20624713" y="560051"/>
              <a:ext cx="501300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8" name="Google Shape;198;g2d69110351a_0_64"/>
            <p:cNvGrpSpPr/>
            <p:nvPr/>
          </p:nvGrpSpPr>
          <p:grpSpPr>
            <a:xfrm>
              <a:off x="21430813" y="169076"/>
              <a:ext cx="385763" cy="583200"/>
              <a:chOff x="0" y="-38100"/>
              <a:chExt cx="76200" cy="115200"/>
            </a:xfrm>
          </p:grpSpPr>
          <p:sp>
            <p:nvSpPr>
              <p:cNvPr id="199" name="Google Shape;199;g2d69110351a_0_64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2d69110351a_0_64"/>
              <p:cNvSpPr txBox="1"/>
              <p:nvPr/>
            </p:nvSpPr>
            <p:spPr>
              <a:xfrm>
                <a:off x="0" y="-38100"/>
                <a:ext cx="76200" cy="1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1" name="Google Shape;201;g2d69110351a_0_64"/>
            <p:cNvSpPr txBox="1"/>
            <p:nvPr/>
          </p:nvSpPr>
          <p:spPr>
            <a:xfrm>
              <a:off x="524365" y="222812"/>
              <a:ext cx="142056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Step 5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Modeling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202" name="Google Shape;202;g2d69110351a_0_64"/>
          <p:cNvSpPr txBox="1"/>
          <p:nvPr/>
        </p:nvSpPr>
        <p:spPr>
          <a:xfrm>
            <a:off x="1260900" y="2029325"/>
            <a:ext cx="16388100" cy="7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Data Splitting:</a:t>
            </a:r>
            <a:endParaRPr b="1"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Divided the dataset into </a:t>
            </a: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70% training</a:t>
            </a: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and </a:t>
            </a: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30% testing</a:t>
            </a: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using train_test_split.</a:t>
            </a:r>
            <a:endParaRPr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Maintained reproducibility with random_state=42.</a:t>
            </a:r>
            <a:endParaRPr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Model Training:</a:t>
            </a:r>
            <a:endParaRPr b="1"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Used a </a:t>
            </a: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Decision Tree Classifier</a:t>
            </a: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with a maximum depth of 3 to avoid overfitting.</a:t>
            </a:r>
            <a:endParaRPr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Trained the model on the </a:t>
            </a: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training set (X_train, y_train)</a:t>
            </a: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endParaRPr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Model Visualization:</a:t>
            </a:r>
            <a:endParaRPr b="1"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Plotted and visualized the </a:t>
            </a: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Decision Tree</a:t>
            </a: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, showing key splits and decision paths.</a:t>
            </a:r>
            <a:endParaRPr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Prediction:</a:t>
            </a:r>
            <a:endParaRPr b="1"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Predicted outcomes (y_pred) on the </a:t>
            </a: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test set (X_test)</a:t>
            </a: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endParaRPr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Model Evaluation:</a:t>
            </a:r>
            <a:endParaRPr b="1"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Calculated model accuracy: </a:t>
            </a: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{accuracy:.2f}</a:t>
            </a: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(replace with the printed accuracy).</a:t>
            </a:r>
            <a:endParaRPr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Generated a </a:t>
            </a:r>
            <a:r>
              <a:rPr b="1"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classification report</a:t>
            </a:r>
            <a:r>
              <a:rPr lang="en-US" sz="2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to evaluate precision, recall, F1-score, and support for each class.</a:t>
            </a:r>
            <a:endParaRPr sz="2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g2d69110351a_0_49"/>
          <p:cNvGrpSpPr/>
          <p:nvPr/>
        </p:nvGrpSpPr>
        <p:grpSpPr>
          <a:xfrm>
            <a:off x="635426" y="461980"/>
            <a:ext cx="17262492" cy="988778"/>
            <a:chOff x="0" y="-192881"/>
            <a:chExt cx="23016656" cy="1318371"/>
          </a:xfrm>
        </p:grpSpPr>
        <p:grpSp>
          <p:nvGrpSpPr>
            <p:cNvPr id="208" name="Google Shape;208;g2d69110351a_0_49"/>
            <p:cNvGrpSpPr/>
            <p:nvPr/>
          </p:nvGrpSpPr>
          <p:grpSpPr>
            <a:xfrm>
              <a:off x="0" y="-192881"/>
              <a:ext cx="23016656" cy="1318371"/>
              <a:chOff x="0" y="-38100"/>
              <a:chExt cx="4546500" cy="260419"/>
            </a:xfrm>
          </p:grpSpPr>
          <p:sp>
            <p:nvSpPr>
              <p:cNvPr id="209" name="Google Shape;209;g2d69110351a_0_49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2d69110351a_0_49"/>
              <p:cNvSpPr txBox="1"/>
              <p:nvPr/>
            </p:nvSpPr>
            <p:spPr>
              <a:xfrm>
                <a:off x="0" y="-38100"/>
                <a:ext cx="4546500" cy="2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11" name="Google Shape;211;g2d69110351a_0_49"/>
            <p:cNvCxnSpPr/>
            <p:nvPr/>
          </p:nvCxnSpPr>
          <p:spPr>
            <a:xfrm>
              <a:off x="22130073" y="368470"/>
              <a:ext cx="351000" cy="3831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g2d69110351a_0_49"/>
            <p:cNvCxnSpPr/>
            <p:nvPr/>
          </p:nvCxnSpPr>
          <p:spPr>
            <a:xfrm flipH="1">
              <a:off x="22130136" y="377728"/>
              <a:ext cx="339300" cy="3738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g2d69110351a_0_49"/>
            <p:cNvCxnSpPr/>
            <p:nvPr/>
          </p:nvCxnSpPr>
          <p:spPr>
            <a:xfrm>
              <a:off x="20624713" y="560051"/>
              <a:ext cx="501300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4" name="Google Shape;214;g2d69110351a_0_49"/>
            <p:cNvGrpSpPr/>
            <p:nvPr/>
          </p:nvGrpSpPr>
          <p:grpSpPr>
            <a:xfrm>
              <a:off x="21430813" y="169076"/>
              <a:ext cx="385763" cy="583200"/>
              <a:chOff x="0" y="-38100"/>
              <a:chExt cx="76200" cy="115200"/>
            </a:xfrm>
          </p:grpSpPr>
          <p:sp>
            <p:nvSpPr>
              <p:cNvPr id="215" name="Google Shape;215;g2d69110351a_0_49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2d69110351a_0_49"/>
              <p:cNvSpPr txBox="1"/>
              <p:nvPr/>
            </p:nvSpPr>
            <p:spPr>
              <a:xfrm>
                <a:off x="0" y="-38100"/>
                <a:ext cx="76200" cy="1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7" name="Google Shape;217;g2d69110351a_0_49"/>
            <p:cNvSpPr txBox="1"/>
            <p:nvPr/>
          </p:nvSpPr>
          <p:spPr>
            <a:xfrm>
              <a:off x="524365" y="222812"/>
              <a:ext cx="142056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Step 6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Model Evaluation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218" name="Google Shape;218;g2d69110351a_0_49"/>
          <p:cNvSpPr txBox="1"/>
          <p:nvPr/>
        </p:nvSpPr>
        <p:spPr>
          <a:xfrm>
            <a:off x="512700" y="6332975"/>
            <a:ext cx="17262600" cy="3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An ROC curve (area) of 0.69 indicates that the model is better than random guessing but still leaves room for improvement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556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For </a:t>
            </a: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the</a:t>
            </a: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confusion matrix: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b="1"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False Negatives</a:t>
            </a: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 The model misses 17 "Death" cases, highlighting low recall (54.1%) for the positive class, which is critical in high-stakes contexts.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b="1"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False Positives</a:t>
            </a: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 There are 8 incorrect "Death" predictions; while less critical, they could lead to unnecessary actions.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b="1"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Class Imbalance</a:t>
            </a: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 Likely skewed towards "No Death," affecting the model’s ability to detect minority cases.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Char char="-"/>
            </a:pPr>
            <a:r>
              <a:rPr b="1"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Model Simplicity</a:t>
            </a: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 A max depth of 3 limits the model's complexity, potentially causing misclassifications.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219" name="Google Shape;219;g2d69110351a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5925" y="1374550"/>
            <a:ext cx="6522445" cy="480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2d69110351a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8200" y="1374549"/>
            <a:ext cx="6106086" cy="48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g2d69110351a_0_34"/>
          <p:cNvGrpSpPr/>
          <p:nvPr/>
        </p:nvGrpSpPr>
        <p:grpSpPr>
          <a:xfrm>
            <a:off x="635426" y="461980"/>
            <a:ext cx="17262492" cy="988778"/>
            <a:chOff x="0" y="-192881"/>
            <a:chExt cx="23016656" cy="1318371"/>
          </a:xfrm>
        </p:grpSpPr>
        <p:grpSp>
          <p:nvGrpSpPr>
            <p:cNvPr id="226" name="Google Shape;226;g2d69110351a_0_34"/>
            <p:cNvGrpSpPr/>
            <p:nvPr/>
          </p:nvGrpSpPr>
          <p:grpSpPr>
            <a:xfrm>
              <a:off x="0" y="-192881"/>
              <a:ext cx="23016656" cy="1318371"/>
              <a:chOff x="0" y="-38100"/>
              <a:chExt cx="4546500" cy="260419"/>
            </a:xfrm>
          </p:grpSpPr>
          <p:sp>
            <p:nvSpPr>
              <p:cNvPr id="227" name="Google Shape;227;g2d69110351a_0_34"/>
              <p:cNvSpPr/>
              <p:nvPr/>
            </p:nvSpPr>
            <p:spPr>
              <a:xfrm>
                <a:off x="0" y="0"/>
                <a:ext cx="4546467" cy="222319"/>
              </a:xfrm>
              <a:custGeom>
                <a:rect b="b" l="l" r="r" t="t"/>
                <a:pathLst>
                  <a:path extrusionOk="0" h="222319" w="4546467">
                    <a:moveTo>
                      <a:pt x="22873" y="0"/>
                    </a:moveTo>
                    <a:lnTo>
                      <a:pt x="4523595" y="0"/>
                    </a:lnTo>
                    <a:cubicBezTo>
                      <a:pt x="4529661" y="0"/>
                      <a:pt x="4535479" y="2410"/>
                      <a:pt x="4539768" y="6699"/>
                    </a:cubicBezTo>
                    <a:cubicBezTo>
                      <a:pt x="4544058" y="10989"/>
                      <a:pt x="4546467" y="16807"/>
                      <a:pt x="4546467" y="22873"/>
                    </a:cubicBezTo>
                    <a:lnTo>
                      <a:pt x="4546467" y="199446"/>
                    </a:lnTo>
                    <a:cubicBezTo>
                      <a:pt x="4546467" y="212079"/>
                      <a:pt x="4536227" y="222319"/>
                      <a:pt x="4523595" y="222319"/>
                    </a:cubicBezTo>
                    <a:lnTo>
                      <a:pt x="22873" y="222319"/>
                    </a:lnTo>
                    <a:cubicBezTo>
                      <a:pt x="10240" y="222319"/>
                      <a:pt x="0" y="212079"/>
                      <a:pt x="0" y="199446"/>
                    </a:cubicBezTo>
                    <a:lnTo>
                      <a:pt x="0" y="22873"/>
                    </a:lnTo>
                    <a:cubicBezTo>
                      <a:pt x="0" y="10240"/>
                      <a:pt x="10240" y="0"/>
                      <a:pt x="228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g2d69110351a_0_34"/>
              <p:cNvSpPr txBox="1"/>
              <p:nvPr/>
            </p:nvSpPr>
            <p:spPr>
              <a:xfrm>
                <a:off x="0" y="-38100"/>
                <a:ext cx="4546500" cy="2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29" name="Google Shape;229;g2d69110351a_0_34"/>
            <p:cNvCxnSpPr/>
            <p:nvPr/>
          </p:nvCxnSpPr>
          <p:spPr>
            <a:xfrm>
              <a:off x="22130073" y="368470"/>
              <a:ext cx="351000" cy="3831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g2d69110351a_0_34"/>
            <p:cNvCxnSpPr/>
            <p:nvPr/>
          </p:nvCxnSpPr>
          <p:spPr>
            <a:xfrm flipH="1">
              <a:off x="22130136" y="377728"/>
              <a:ext cx="339300" cy="3738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g2d69110351a_0_34"/>
            <p:cNvCxnSpPr/>
            <p:nvPr/>
          </p:nvCxnSpPr>
          <p:spPr>
            <a:xfrm>
              <a:off x="20624713" y="560051"/>
              <a:ext cx="501300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2" name="Google Shape;232;g2d69110351a_0_34"/>
            <p:cNvGrpSpPr/>
            <p:nvPr/>
          </p:nvGrpSpPr>
          <p:grpSpPr>
            <a:xfrm>
              <a:off x="21430813" y="169076"/>
              <a:ext cx="385763" cy="583200"/>
              <a:chOff x="0" y="-38100"/>
              <a:chExt cx="76200" cy="115200"/>
            </a:xfrm>
          </p:grpSpPr>
          <p:sp>
            <p:nvSpPr>
              <p:cNvPr id="233" name="Google Shape;233;g2d69110351a_0_34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g2d69110351a_0_34"/>
              <p:cNvSpPr txBox="1"/>
              <p:nvPr/>
            </p:nvSpPr>
            <p:spPr>
              <a:xfrm>
                <a:off x="0" y="-38100"/>
                <a:ext cx="76200" cy="1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" name="Google Shape;235;g2d69110351a_0_34"/>
            <p:cNvSpPr txBox="1"/>
            <p:nvPr/>
          </p:nvSpPr>
          <p:spPr>
            <a:xfrm>
              <a:off x="524365" y="222812"/>
              <a:ext cx="15642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Step 7</a:t>
              </a:r>
              <a:r>
                <a:rPr b="0" i="0" lang="en-US" sz="2800" u="none" cap="none" strike="noStrike">
                  <a:solidFill>
                    <a:srgbClr val="38B6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r>
                <a:rPr b="0" i="0" lang="en-US" sz="28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  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28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Model Interpretation and Insights</a:t>
              </a:r>
              <a:r>
                <a:rPr b="0" i="0" lang="en-US" sz="28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/>
            </a:p>
          </p:txBody>
        </p:sp>
      </p:grpSp>
      <p:sp>
        <p:nvSpPr>
          <p:cNvPr id="236" name="Google Shape;236;g2d69110351a_0_34"/>
          <p:cNvSpPr txBox="1"/>
          <p:nvPr/>
        </p:nvSpPr>
        <p:spPr>
          <a:xfrm>
            <a:off x="1477900" y="1993250"/>
            <a:ext cx="15662700" cy="7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ROC AUC Score (0.69)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ra Code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Moderate ability to discriminate between death and survival events.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ra Code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Not sufficient for reliable predictions in high-stakes healthcare settings.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Confusion Matrix Insights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ra Code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17 false negatives, indicating missed death events.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ra Code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Risks of not identifying patients needing critical intervention.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Key Features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Serum creatinine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and </a:t>
            </a: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ejection fraction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align with medical knowledge of heart failure.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Model captures some high-risk patterns but shows variability in </a:t>
            </a: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platelets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and </a:t>
            </a: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serum sodium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predictions.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Model Context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ra Code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False negatives are critical in healthcare; missing death events can have severe consequences.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ra Code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Model conservatively identifies survival cases but risks overlooking critical patients.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Next Steps</a:t>
            </a: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ra Code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Focus on reducing false negatives for better detection.</a:t>
            </a:r>
            <a:endParaRPr sz="21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ra Code"/>
              <a:buChar char="●"/>
            </a:pPr>
            <a:r>
              <a:rPr lang="en-US" sz="21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Explore resampling or cost-sensitive methods to handle class imbalance.</a:t>
            </a:r>
            <a:endParaRPr b="1" sz="36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g2d692b5bab9_1_2"/>
          <p:cNvGrpSpPr/>
          <p:nvPr/>
        </p:nvGrpSpPr>
        <p:grpSpPr>
          <a:xfrm>
            <a:off x="5488647" y="688543"/>
            <a:ext cx="8513509" cy="4614432"/>
            <a:chOff x="-882014" y="169076"/>
            <a:chExt cx="23363087" cy="6152576"/>
          </a:xfrm>
        </p:grpSpPr>
        <p:cxnSp>
          <p:nvCxnSpPr>
            <p:cNvPr id="242" name="Google Shape;242;g2d692b5bab9_1_2"/>
            <p:cNvCxnSpPr/>
            <p:nvPr/>
          </p:nvCxnSpPr>
          <p:spPr>
            <a:xfrm>
              <a:off x="22130073" y="368470"/>
              <a:ext cx="351000" cy="3831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g2d692b5bab9_1_2"/>
            <p:cNvCxnSpPr/>
            <p:nvPr/>
          </p:nvCxnSpPr>
          <p:spPr>
            <a:xfrm flipH="1">
              <a:off x="22130136" y="377728"/>
              <a:ext cx="339300" cy="37380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g2d692b5bab9_1_2"/>
            <p:cNvCxnSpPr/>
            <p:nvPr/>
          </p:nvCxnSpPr>
          <p:spPr>
            <a:xfrm>
              <a:off x="20624713" y="560051"/>
              <a:ext cx="501300" cy="0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5" name="Google Shape;245;g2d692b5bab9_1_2"/>
            <p:cNvGrpSpPr/>
            <p:nvPr/>
          </p:nvGrpSpPr>
          <p:grpSpPr>
            <a:xfrm>
              <a:off x="21430813" y="169076"/>
              <a:ext cx="385763" cy="583200"/>
              <a:chOff x="0" y="-38100"/>
              <a:chExt cx="76200" cy="115200"/>
            </a:xfrm>
          </p:grpSpPr>
          <p:sp>
            <p:nvSpPr>
              <p:cNvPr id="246" name="Google Shape;246;g2d692b5bab9_1_2"/>
              <p:cNvSpPr/>
              <p:nvPr/>
            </p:nvSpPr>
            <p:spPr>
              <a:xfrm>
                <a:off x="0" y="0"/>
                <a:ext cx="76074" cy="76973"/>
              </a:xfrm>
              <a:custGeom>
                <a:rect b="b" l="l" r="r" t="t"/>
                <a:pathLst>
                  <a:path extrusionOk="0" h="76973" w="76074">
                    <a:moveTo>
                      <a:pt x="38037" y="0"/>
                    </a:moveTo>
                    <a:lnTo>
                      <a:pt x="38037" y="0"/>
                    </a:lnTo>
                    <a:cubicBezTo>
                      <a:pt x="59044" y="0"/>
                      <a:pt x="76074" y="17030"/>
                      <a:pt x="76074" y="38037"/>
                    </a:cubicBezTo>
                    <a:lnTo>
                      <a:pt x="76074" y="38936"/>
                    </a:lnTo>
                    <a:cubicBezTo>
                      <a:pt x="76074" y="59943"/>
                      <a:pt x="59044" y="76973"/>
                      <a:pt x="38037" y="76973"/>
                    </a:cubicBezTo>
                    <a:lnTo>
                      <a:pt x="38037" y="76973"/>
                    </a:lnTo>
                    <a:cubicBezTo>
                      <a:pt x="17030" y="76973"/>
                      <a:pt x="0" y="59943"/>
                      <a:pt x="0" y="38936"/>
                    </a:cubicBezTo>
                    <a:lnTo>
                      <a:pt x="0" y="38037"/>
                    </a:lnTo>
                    <a:cubicBezTo>
                      <a:pt x="0" y="17030"/>
                      <a:pt x="17030" y="0"/>
                      <a:pt x="380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g2d692b5bab9_1_2"/>
              <p:cNvSpPr txBox="1"/>
              <p:nvPr/>
            </p:nvSpPr>
            <p:spPr>
              <a:xfrm>
                <a:off x="0" y="-38100"/>
                <a:ext cx="76200" cy="11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8" name="Google Shape;248;g2d692b5bab9_1_2"/>
            <p:cNvSpPr txBox="1"/>
            <p:nvPr/>
          </p:nvSpPr>
          <p:spPr>
            <a:xfrm>
              <a:off x="-882014" y="2282752"/>
              <a:ext cx="21506700" cy="40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200" u="none" cap="none" strike="noStrike">
                  <a:solidFill>
                    <a:srgbClr val="FFFFFF"/>
                  </a:solidFill>
                  <a:latin typeface="Fira Code"/>
                  <a:ea typeface="Fira Code"/>
                  <a:cs typeface="Fira Code"/>
                  <a:sym typeface="Fira Code"/>
                </a:rPr>
                <a:t>         </a:t>
              </a:r>
              <a:r>
                <a:rPr b="0" i="0" lang="en-US" sz="82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-US" sz="8200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Thank You!</a:t>
              </a:r>
              <a:r>
                <a:rPr b="0" i="0" lang="en-US" sz="8200" u="none" cap="none" strike="noStrike">
                  <a:solidFill>
                    <a:srgbClr val="AB81FF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sz="6800"/>
            </a:p>
          </p:txBody>
        </p:sp>
      </p:grpSp>
      <p:sp>
        <p:nvSpPr>
          <p:cNvPr id="249" name="Google Shape;249;g2d692b5bab9_1_2"/>
          <p:cNvSpPr txBox="1"/>
          <p:nvPr/>
        </p:nvSpPr>
        <p:spPr>
          <a:xfrm>
            <a:off x="6433650" y="5410100"/>
            <a:ext cx="5420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Any Questions?</a:t>
            </a:r>
            <a:endParaRPr sz="4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